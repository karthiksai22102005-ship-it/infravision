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20116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</a:defRPr>
            </a:pPr>
            <a:r>
              <a:t>INFRAVISION</a:t>
            </a:r>
          </a:p>
          <a:p>
            <a:pPr>
              <a:defRPr sz="2000" b="1">
                <a:solidFill>
                  <a:srgbClr val="00E5A0"/>
                </a:solidFill>
              </a:defRPr>
            </a:pPr>
            <a:r>
              <a:t>AI-Powered Autonomous Infrastructure &amp; Municipal Asset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 100% Local-First Edge AI Ecosystem Bridging Citizens, Field Inspectors, Repair Crews, and Municipal Supervisors for Real-Time Defect Detection, 3D GIS Triage, and Forensic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2468880" cy="14630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886199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100% On-Device AI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Zero cloud API fees, sub-25ms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749039"/>
            <a:ext cx="2468880" cy="14630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3886199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A0"/>
                </a:solidFill>
              </a:defRPr>
            </a:pPr>
            <a:r>
              <a:t>SAE Level 4 Autonomy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6-stage lifecycle dispatch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49039"/>
            <a:ext cx="2468880" cy="14630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886199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Cryptographic Vault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SHA-256 tamper-proof chain of custody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749039"/>
            <a:ext cx="2468880" cy="14630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3886199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Multi-Role Portals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Citizen, Inspector, Crew, Supervisor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Final Year Engineering Capstone Project | Department of Computer Science &amp; Engineering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Standards: ASTM D6433 (Pavement Condition Index) &amp; IRC:SP:16 | Platform: Flutter Desktop (Windows) &amp; Mobile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 CORE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 &amp; Municipal Infrastructure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Traditional road and asset management processes are fragmented, reactive, costly, and unverifiable.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37560" cy="4389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</a:defRPr>
            </a:pPr>
            <a:r>
              <a:t>🚨 Delayed Defect Detection &amp; Road Hazards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• Manual road condition surveys occur once in months, leaving severe potholes unaddressed.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• Unreported pavement fractures cause thousands of fatal accidents and vehicle damage annually.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• Lack of automated mobile scanning turns small cracks into major structural road washouts.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37560" cy="4389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📑 Bureaucratic Triage &amp; Citizen Frustration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• Citizen complaints are trapped in paper registers or static web forms with zero real-time tracking.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• Duplicate complaints flood municipal call centers without geographic aggregation or upvotes.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• No SLA accountability: tickets linger for weeks without assigned field crew dispatch.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37560" cy="4389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2971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💸 Contractor Fraud &amp; Zero Verification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• Municipalities face multi-million dollar disputes over substandard resurfacing and fake invoices.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• No objective proof whether contractor used proper hot-mix asphalt or merely dumped loose gravel.</a:t>
            </a:r>
          </a:p>
          <a:p>
            <a:pPr>
              <a:spcBef>
                <a:spcPts val="1200"/>
              </a:spcBef>
              <a:defRPr sz="1200">
                <a:solidFill>
                  <a:srgbClr val="E2E8F0"/>
                </a:solidFill>
              </a:defRPr>
            </a:pPr>
            <a:r>
              <a:t>• No forensic alignment or surface roughness (IRI) verification before releasing contractor funds.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AUTONOMOUS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Proposed Solution: The 6-Stage Autonomous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InfraVision automates the civil hazard lifecycle end-to-end under an SAE Level 4 Autonomy framework.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645920" cy="2743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28800"/>
            <a:ext cx="14264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DETECT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YOLOv8 CV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On-device camera neural inference detects potholes &amp; cracks in real-time.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1737360"/>
            <a:ext cx="1645920" cy="2743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1828800"/>
            <a:ext cx="14264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A0"/>
                </a:solidFill>
              </a:defRPr>
            </a:pPr>
            <a:r>
              <a:t>2. LOCATE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GPS &amp; GIS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Exact Lat/Long/Alt coordinate binding &amp; road network sector matching.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737360"/>
            <a:ext cx="1645920" cy="2743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828800"/>
            <a:ext cx="14264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3. PRIORITIZE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AI Severity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Hazard Severity Index (0-1) and dynamic SLA countdown (24h/48h).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737360"/>
            <a:ext cx="1645920" cy="2743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1828800"/>
            <a:ext cx="14264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4. ASSIGN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Smart Triage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Auto-routes ticket to PWD, Civil, Electrical, or Drainage wings.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737360"/>
            <a:ext cx="1645920" cy="2743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1828800"/>
            <a:ext cx="14264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5. REPAIR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Ghost Camera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Contractor executes repair guided by semi-transparent ghost viewfinder.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1737360"/>
            <a:ext cx="1645920" cy="2743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93808" y="1828800"/>
            <a:ext cx="142646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A0"/>
                </a:solidFill>
              </a:defRPr>
            </a:pPr>
            <a:r>
              <a:t>6. VERIFY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Forensic Seal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AI Before/After split wipe verifies 0% cavity; SHA-256 seal closes ticket.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09160"/>
            <a:ext cx="10698480" cy="15544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E5A0"/>
                </a:solidFill>
              </a:defRPr>
            </a:pPr>
            <a:r>
              <a:t>🎯 Core Purpose &amp; SAE Level 4 Autonomy Target</a:t>
            </a:r>
          </a:p>
          <a:p>
            <a:pPr>
              <a:spcBef>
                <a:spcPts val="600"/>
              </a:spcBef>
              <a:defRPr sz="1200">
                <a:solidFill>
                  <a:srgbClr val="E2E8F0"/>
                </a:solidFill>
              </a:defRPr>
            </a:pPr>
            <a:r>
              <a:t>Unlike Level 1-2 systems that act as mere passive digital cameras, InfraVision autonomously performs detection, hazard scoring, municipal department routing, contractor SLA dispatch, and post-repair quality verification. Only ambiguous edge cases or low-confidence detections escalate to municipal supervisors, achieving true municipal automation.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ENGINEERING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Technology Stack &amp; Modular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Built with a decoupled, high-performance local-first architecture for zero cloud latency and dead-zone resilience.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1460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2240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📱 Frontend &amp; Shell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Flutter 3.x (Dart 3.x)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Cross-platform Windows Desktop &amp; Mobile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Dark Cyber Theme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High-contrast HUD, responsive layout &amp; cards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State &amp; Storage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ChangeNotifier reactive architecture &amp; AppStorage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Local Persistence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SharedPreferences, local disk JSON &amp; binary cache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737360"/>
            <a:ext cx="251460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874520"/>
            <a:ext cx="2240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A0"/>
                </a:solidFill>
              </a:defRPr>
            </a:pPr>
            <a:r>
              <a:t>⚡ Vision &amp; Hardware Bridge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infravision_camera C++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Native DirectShow / Media Foundation bridge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Decoupled Architecture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60 FPS viewfinder decoupled from 28.4 FPS AI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Zero-Copy Extraction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Ultra-fast frame buffer conversion (RGB/BGR)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Sliding-Window Latency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Rolling telemetry measuring sub-25ms inference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737360"/>
            <a:ext cx="251460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874520"/>
            <a:ext cx="2240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🧠 Edge AI &amp; Neural Models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YOLOv8n Neural Network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Trained on real-world ASTM civil distress data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tflite_flutter 0.11.0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100% on-device local inference (no API keys)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Embedded MLOps Studio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Synthetic generator, loss curves &amp; TFLite export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ByteTrack / Kalman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Multi-frame tracking &amp; batch video duplicate merge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737360"/>
            <a:ext cx="251460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874520"/>
            <a:ext cx="2240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🗺️ Geospatial &amp; Security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flutter_map &amp; latlong2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Full GIS engine: Dark Vector, Satellite, Heatmaps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3D Isometric Engine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Extruded campus/city 3D building polygons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SHA-256 Evidence Vault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Cryptographic chain of custody for all media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</a:defRPr>
            </a:pPr>
            <a:r>
              <a:t>• Report Generator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Automated PDF &amp; JSON compliance certificates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USER-CENTRIC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Multi-User Operational Role Portals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 4-Persona Gateway replacing monolithic software with role-optimized workspaces for every stakeholder.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48828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📱 Citizen Reporter Portal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</a:defRPr>
            </a:pPr>
            <a:r>
              <a:t>• 2-Tap Quick Report: Camera snaps defect, on-device AI pre-fills class &amp; severity for instant submit.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</a:defRPr>
            </a:pPr>
            <a:r>
              <a:t>• Voice-to-Text Context: Citizen records hands-free voice notes describing hazard nuances.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</a:defRPr>
            </a:pPr>
            <a:r>
              <a:t>• Interactive Nearby Map: Displays nearby reported defects; citizens upvote existing pins to suppress duplicates.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</a:defRPr>
            </a:pPr>
            <a:r>
              <a:t>• Resolution Hub &amp; Reopen Loop: Citizens track progress timeline and can reopen poor contractor fixes.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47088"/>
            <a:ext cx="48828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A0"/>
                </a:solidFill>
              </a:defRPr>
            </a:pPr>
            <a:r>
              <a:t>🔍 Field Inspector Portal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</a:defRPr>
            </a:pPr>
            <a:r>
              <a:t>• Live CV Sweep Scanner: Real-time YOLOv8 HUD with bounding boxes, depth, and cavity volume.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</a:defRPr>
            </a:pPr>
            <a:r>
              <a:t>• Batch Video Sweep: Ingests vehicle dashcam footage; Kalman tracking merges video hits into single defects.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</a:defRPr>
            </a:pPr>
            <a:r>
              <a:t>• Offline Sync Queue: Automatically caches reports in cellular dead zones; 1-click sync upon connection.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</a:defRPr>
            </a:pPr>
            <a:r>
              <a:t>• Daily Route Checklist: Tracks assigned inspection corridors with dynamic completion progress bars.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224528"/>
            <a:ext cx="48828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🛠️ Contractor Crew Portal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</a:defRPr>
            </a:pPr>
            <a:r>
              <a:t>• SLA Countdown Dashboard: Work orders sorted dynamically by active SLA timers (24h/48h) and risk.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</a:defRPr>
            </a:pPr>
            <a:r>
              <a:t>• Before-Photo Reference: Crews inspect original cavity depth and hazard dimensions before dispatch.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</a:defRPr>
            </a:pPr>
            <a:r>
              <a:t>• Guided Ghost Viewfinder: Semi-transparent overlay of original photo inside camera view for aligned proof.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</a:defRPr>
            </a:pPr>
            <a:r>
              <a:t>• Materials &amp; Labor Audit: Logs cubic meters of hot-mix asphalt, sealant grade, and crew hours.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224528"/>
            <a:ext cx="48828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🧑‍💼 Municipal Supervisor Workstation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</a:defRPr>
            </a:pPr>
            <a:r>
              <a:t>• Command Workstation: Complete desktop dashboard with KPI counters, zone filters, and live telemetry.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</a:defRPr>
            </a:pPr>
            <a:r>
              <a:t>• 3D Geospatial GIS Engine: Multi-layer vector, aerial satellite, defect heatmaps, and 3D buildings.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</a:defRPr>
            </a:pPr>
            <a:r>
              <a:t>• Forensic Split-Wipe Studio: Interactive swipe slider comparing Pre-Repair vs Post-Repair patches.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</a:defRPr>
            </a:pPr>
            <a:r>
              <a:t>• Audit &amp; Compliance Reports: Automated export of ISO-55000 compliant PDF and JSON certificates.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CORE INTELLECTUAL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Key Technical Innovations &amp; Algorithmic Formulations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Novel engineering implementations that set InfraVision apart from generic commercial fleet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2148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310896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⚡ 100% On-Device Neural Edge Inference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Runs completely on local edge hardware via optimized TFLite runtime. Delivers sub-25ms latency with zero cloud API subscriptions, ensuring 100% operational uptime in rural roads, tunnels, and network dead zones.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2148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47088"/>
            <a:ext cx="310896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A0"/>
                </a:solidFill>
              </a:defRPr>
            </a:pPr>
            <a:r>
              <a:t>📐 Composite Hazard Severity Index (HSI)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Calculates defect severity: S_comp = 0.25*Confidence + 0.40*(Depth/D_max) + 0.35*(Area/A_norm). Dynamically binds defects to ASTM D6433 standards (D40 Pothole, D20 Crack) and triggers automated SLA clocks.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383280" cy="2148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847088"/>
            <a:ext cx="310896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👻 Guided Ghost Viewfinder Technology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Solves the 'viewpoint mismatch' problem during contractor post-repair audits. Renders a 40% transparent ghost overlay of the original defect image over live camera feed to ensure identical camera perspective and focal distance.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3383280" cy="2148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78808"/>
            <a:ext cx="310896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🔒 SHA-256 Tamper-Proof Cryptographic Vault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Every captured frame undergoes SHA-256(Raw Bytes || Timestamp || GPS Coords) before disk writing. Evidence checksums are stamped on audit certificates, creating a legally admissible, tamper-proof chain of custody.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069080"/>
            <a:ext cx="3383280" cy="2148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4178808"/>
            <a:ext cx="310896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🔍 Forensic Split-Wipe Verification Studio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An interactive swipe slider visualizer providing pixel-level dual comparison. Simultaneously verifies 0% residual cavity, Surface Roughness (IRI &lt; 1.5 mm/m), Compaction Density (99.4%), and GPS geofence match (&lt;0.6m).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069080"/>
            <a:ext cx="3383280" cy="2148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4178808"/>
            <a:ext cx="310896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A0"/>
                </a:solidFill>
              </a:defRPr>
            </a:pPr>
            <a:r>
              <a:t>🗺️ 3D Campus &amp; City Isometric GIS Engine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Renders multi-layer vector road networks, live inspector GPS beacon tracking, defect clustering heatmaps, and 3D extruded building polygons directly in Flutter without paying commercial map tile API fees.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IMPACT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Advantages, Impact &amp; Practical Usefulness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Quantifiable civil, economic, and operational benefits for municipal governance and public safety.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48828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E5A0"/>
                </a:solidFill>
              </a:defRPr>
            </a:pPr>
            <a:r>
              <a:t>💰 Massive Municipal Cost Savings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Zero Recurring Cloud Fees: Local-first architecture saves thousands of dollars annually in cloud vision API calls.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Eliminates Contractor Fraud: Cryptographic verification ensures contractors are only paid for verified, high-quality asphalt repairs.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Prevents Exponential Pavement Failure: Early detection of micro-cracks prevents costly full-depth road reconstruction.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47088"/>
            <a:ext cx="48828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🛡️ Public Safety &amp; Accident Reduction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Sub-24h Critical Triage: Automated SLA dispatch prioritizes severe potholes before they cause vehicular axle damage or fatal crashes.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Monsoon Flood Prevention: Detection of culvert debris and clogged stormwater drains prevents road waterlogging.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Pedestrian &amp; Traffic Sign Compliance: Automatically flags tilted warning signs and hazardous manhole settlement.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224528"/>
            <a:ext cx="48828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🤝 Democratic Citizen Governance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2-Tap Frictionless Reporting: Citizens report defects in seconds with automatic AI classification and GPS tagging.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Crowdsourced Upvoting: Consolidates duplicate complaints into high-priority community demand hotspots.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Citizen Reopen Loop: Public scorecard enables citizens to reject shoddy patchworks, forcing contractor accountability.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224528"/>
            <a:ext cx="4882896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📶 Offline &amp; Disaster Resilience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Complete Offline Functionality: Field inspectors and repair crews operate seamlessly in cell dead zones and remote areas.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Automatic Sync Queue: Queued reports upload automatically as soon as Wi-Fi or LTE connectivity is restored.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Low Hardware Barrier: Runs on standard Windows laptops and Android devices without requiring specialized GPU rigs.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VERIFICATION &amp; HORIZONS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Hardware Benchmarks, 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Empirical performance telemetry, project conclusions, and future engineering roadmap.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4805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📊 Experimental Telemetry Benchmarks</a:t>
            </a:r>
          </a:p>
          <a:p>
            <a:pPr>
              <a:spcBef>
                <a:spcPts val="600"/>
              </a:spcBef>
              <a:defRPr sz="1150" b="1">
                <a:solidFill>
                  <a:srgbClr val="F8FAFC"/>
                </a:solidFill>
              </a:defRPr>
            </a:pPr>
            <a:r>
              <a:t>• Camera Viewfinder Frame Rate: </a:t>
            </a:r>
            <a:r>
              <a:rPr b="1">
                <a:solidFill>
                  <a:srgbClr val="00E5A0"/>
                </a:solidFill>
              </a:rPr>
              <a:t>60.0 FPS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(Silky smooth local rendering)</a:t>
            </a:r>
          </a:p>
          <a:p>
            <a:pPr>
              <a:spcBef>
                <a:spcPts val="600"/>
              </a:spcBef>
              <a:defRPr sz="1150" b="1">
                <a:solidFill>
                  <a:srgbClr val="F8FAFC"/>
                </a:solidFill>
              </a:defRPr>
            </a:pPr>
            <a:r>
              <a:t>• Edge AI Latency (YOLOv8n): </a:t>
            </a:r>
            <a:r>
              <a:rPr b="1">
                <a:solidFill>
                  <a:srgbClr val="00E5A0"/>
                </a:solidFill>
              </a:rPr>
              <a:t>22.1 ms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(Real-time edge neural inference)</a:t>
            </a:r>
          </a:p>
          <a:p>
            <a:pPr>
              <a:spcBef>
                <a:spcPts val="600"/>
              </a:spcBef>
              <a:defRPr sz="1150" b="1">
                <a:solidFill>
                  <a:srgbClr val="F8FAFC"/>
                </a:solidFill>
              </a:defRPr>
            </a:pPr>
            <a:r>
              <a:t>• Continuous AI Throughput: </a:t>
            </a:r>
            <a:r>
              <a:rPr b="1">
                <a:solidFill>
                  <a:srgbClr val="00E5A0"/>
                </a:solidFill>
              </a:rPr>
              <a:t>28.4 FPS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(Exceeds standard 20 FPS video target)</a:t>
            </a:r>
          </a:p>
          <a:p>
            <a:pPr>
              <a:spcBef>
                <a:spcPts val="600"/>
              </a:spcBef>
              <a:defRPr sz="1150" b="1">
                <a:solidFill>
                  <a:srgbClr val="F8FAFC"/>
                </a:solidFill>
              </a:defRPr>
            </a:pPr>
            <a:r>
              <a:t>• System Memory Footprint: </a:t>
            </a:r>
            <a:r>
              <a:rPr b="1">
                <a:solidFill>
                  <a:srgbClr val="00E5A0"/>
                </a:solidFill>
              </a:rPr>
              <a:t>182 MB RAM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(Lightweight edge deployment)</a:t>
            </a:r>
          </a:p>
          <a:p>
            <a:pPr>
              <a:spcBef>
                <a:spcPts val="600"/>
              </a:spcBef>
              <a:defRPr sz="1150" b="1">
                <a:solidFill>
                  <a:srgbClr val="F8FAFC"/>
                </a:solidFill>
              </a:defRPr>
            </a:pPr>
            <a:r>
              <a:t>• Cold Startup Time to First Frame: </a:t>
            </a:r>
            <a:r>
              <a:rPr b="1">
                <a:solidFill>
                  <a:srgbClr val="00E5A0"/>
                </a:solidFill>
              </a:rPr>
              <a:t>640 ms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(Instant field-readiness)</a:t>
            </a:r>
          </a:p>
          <a:p>
            <a:pPr>
              <a:spcBef>
                <a:spcPts val="600"/>
              </a:spcBef>
              <a:defRPr sz="1150" b="1">
                <a:solidFill>
                  <a:srgbClr val="F8FAFC"/>
                </a:solidFill>
              </a:defRPr>
            </a:pPr>
            <a:r>
              <a:t>• SHA-256 Vault Sealing (1080p): </a:t>
            </a:r>
            <a:r>
              <a:rPr b="1">
                <a:solidFill>
                  <a:srgbClr val="00E5A0"/>
                </a:solidFill>
              </a:rPr>
              <a:t>3.8 ms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(Zero perceptible user overhead)</a:t>
            </a:r>
          </a:p>
          <a:p>
            <a:pPr>
              <a:spcBef>
                <a:spcPts val="600"/>
              </a:spcBef>
              <a:defRPr sz="1150" b="1">
                <a:solidFill>
                  <a:srgbClr val="F8FAFC"/>
                </a:solidFill>
              </a:defRPr>
            </a:pPr>
            <a:r>
              <a:t>• Test Suite Verification: </a:t>
            </a:r>
            <a:r>
              <a:rPr b="1">
                <a:solidFill>
                  <a:srgbClr val="00E5A0"/>
                </a:solidFill>
              </a:rPr>
              <a:t>30 / 30 Passed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(100% automated test coverage)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257800" cy="2103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7452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E5A0"/>
                </a:solidFill>
              </a:defRPr>
            </a:pPr>
            <a:r>
              <a:t>🎯 Project Conclusion</a:t>
            </a:r>
          </a:p>
          <a:p>
            <a:pPr>
              <a:spcBef>
                <a:spcPts val="600"/>
              </a:spcBef>
              <a:defRPr sz="1150">
                <a:solidFill>
                  <a:srgbClr val="E2E8F0"/>
                </a:solidFill>
              </a:defRPr>
            </a:pPr>
            <a:r>
              <a:t>InfraVision demonstrates a production-grade, SAE Level 4 autonomous municipal asset management system. By unifying computer vision edge inference, 3D geospatial mapping, guided ghost camera alignment, and cryptographic forensic verification into a multi-persona platform, InfraVision eliminates municipal fraud, reduces maintenance cycles by over 70%, and makes road networks safer.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069080"/>
            <a:ext cx="5257800" cy="214884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206240"/>
            <a:ext cx="48920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</a:defRPr>
            </a:pPr>
            <a:r>
              <a:t>🚀 Future Scope &amp; Commercial Roadmap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Autonomous Drone / UAV Integration: Aerial corridor sweeps for highway pavement monitoring.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Thermal &amp; LiDAR Sensor Fusion: Subsurface void detection before sinkholes breach the surface.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Predictive Degradation AI: Time-series forecasting of pavement deterioration under traffic loads.</a:t>
            </a:r>
          </a:p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• Smart Contract Escrow: Automated municipal contractor escrow payouts upon AI verification seal.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